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AF621E-4CB1-469E-9D2E-47F2D7A56EE7}" v="51" dt="2026-02-20T04:14:18.2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yash ghodke" userId="f36bfe22e8b139ee" providerId="LiveId" clId="{3E037F2F-60DF-48CD-B01E-90A5698BD7A0}"/>
    <pc:docChg chg="undo custSel modSld">
      <pc:chgData name="sriyash ghodke" userId="f36bfe22e8b139ee" providerId="LiveId" clId="{3E037F2F-60DF-48CD-B01E-90A5698BD7A0}" dt="2026-02-28T13:17:42.989" v="233" actId="1038"/>
      <pc:docMkLst>
        <pc:docMk/>
      </pc:docMkLst>
      <pc:sldChg chg="addSp modSp mod modTransition modAnim">
        <pc:chgData name="sriyash ghodke" userId="f36bfe22e8b139ee" providerId="LiveId" clId="{3E037F2F-60DF-48CD-B01E-90A5698BD7A0}" dt="2026-02-20T04:13:05.516" v="228"/>
        <pc:sldMkLst>
          <pc:docMk/>
          <pc:sldMk cId="0" sldId="256"/>
        </pc:sldMkLst>
        <pc:spChg chg="mod">
          <ac:chgData name="sriyash ghodke" userId="f36bfe22e8b139ee" providerId="LiveId" clId="{3E037F2F-60DF-48CD-B01E-90A5698BD7A0}" dt="2026-02-19T18:32:00.062" v="172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sriyash ghodke" userId="f36bfe22e8b139ee" providerId="LiveId" clId="{3E037F2F-60DF-48CD-B01E-90A5698BD7A0}" dt="2026-02-19T18:32:19.483" v="180" actId="1076"/>
          <ac:spMkLst>
            <pc:docMk/>
            <pc:sldMk cId="0" sldId="256"/>
            <ac:spMk id="4" creationId="{00000000-0000-0000-0000-000000000000}"/>
          </ac:spMkLst>
        </pc:spChg>
        <pc:spChg chg="mod">
          <ac:chgData name="sriyash ghodke" userId="f36bfe22e8b139ee" providerId="LiveId" clId="{3E037F2F-60DF-48CD-B01E-90A5698BD7A0}" dt="2026-02-19T18:32:25.048" v="181" actId="1076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sriyash ghodke" userId="f36bfe22e8b139ee" providerId="LiveId" clId="{3E037F2F-60DF-48CD-B01E-90A5698BD7A0}" dt="2026-02-19T18:32:45.672" v="188" actId="255"/>
          <ac:spMkLst>
            <pc:docMk/>
            <pc:sldMk cId="0" sldId="256"/>
            <ac:spMk id="10" creationId="{DAFE667B-5026-FC4A-41C8-57815FC87484}"/>
          </ac:spMkLst>
        </pc:spChg>
        <pc:spChg chg="add mod">
          <ac:chgData name="sriyash ghodke" userId="f36bfe22e8b139ee" providerId="LiveId" clId="{3E037F2F-60DF-48CD-B01E-90A5698BD7A0}" dt="2026-02-19T18:32:35.278" v="186" actId="1076"/>
          <ac:spMkLst>
            <pc:docMk/>
            <pc:sldMk cId="0" sldId="256"/>
            <ac:spMk id="11" creationId="{E69493B0-B02D-3D46-8D56-782BF5A08EC7}"/>
          </ac:spMkLst>
        </pc:spChg>
        <pc:picChg chg="mod modCrop">
          <ac:chgData name="sriyash ghodke" userId="f36bfe22e8b139ee" providerId="LiveId" clId="{3E037F2F-60DF-48CD-B01E-90A5698BD7A0}" dt="2026-02-19T18:32:30.798" v="185" actId="1076"/>
          <ac:picMkLst>
            <pc:docMk/>
            <pc:sldMk cId="0" sldId="256"/>
            <ac:picMk id="2" creationId="{00000000-0000-0000-0000-000000000000}"/>
          </ac:picMkLst>
        </pc:picChg>
      </pc:sldChg>
      <pc:sldChg chg="modSp mod modTransition modAnim">
        <pc:chgData name="sriyash ghodke" userId="f36bfe22e8b139ee" providerId="LiveId" clId="{3E037F2F-60DF-48CD-B01E-90A5698BD7A0}" dt="2026-02-20T04:13:02.031" v="227" actId="1076"/>
        <pc:sldMkLst>
          <pc:docMk/>
          <pc:sldMk cId="0" sldId="257"/>
        </pc:sldMkLst>
        <pc:picChg chg="mod">
          <ac:chgData name="sriyash ghodke" userId="f36bfe22e8b139ee" providerId="LiveId" clId="{3E037F2F-60DF-48CD-B01E-90A5698BD7A0}" dt="2026-02-20T04:13:02.031" v="227" actId="1076"/>
          <ac:picMkLst>
            <pc:docMk/>
            <pc:sldMk cId="0" sldId="257"/>
            <ac:picMk id="2" creationId="{00000000-0000-0000-0000-000000000000}"/>
          </ac:picMkLst>
        </pc:picChg>
      </pc:sldChg>
      <pc:sldChg chg="modTransition modAnim">
        <pc:chgData name="sriyash ghodke" userId="f36bfe22e8b139ee" providerId="LiveId" clId="{3E037F2F-60DF-48CD-B01E-90A5698BD7A0}" dt="2026-02-20T04:12:57.800" v="225"/>
        <pc:sldMkLst>
          <pc:docMk/>
          <pc:sldMk cId="0" sldId="258"/>
        </pc:sldMkLst>
      </pc:sldChg>
      <pc:sldChg chg="modTransition modAnim">
        <pc:chgData name="sriyash ghodke" userId="f36bfe22e8b139ee" providerId="LiveId" clId="{3E037F2F-60DF-48CD-B01E-90A5698BD7A0}" dt="2026-02-20T04:12:55.636" v="224"/>
        <pc:sldMkLst>
          <pc:docMk/>
          <pc:sldMk cId="0" sldId="259"/>
        </pc:sldMkLst>
      </pc:sldChg>
      <pc:sldChg chg="modTransition modAnim">
        <pc:chgData name="sriyash ghodke" userId="f36bfe22e8b139ee" providerId="LiveId" clId="{3E037F2F-60DF-48CD-B01E-90A5698BD7A0}" dt="2026-02-20T04:12:53.034" v="223"/>
        <pc:sldMkLst>
          <pc:docMk/>
          <pc:sldMk cId="0" sldId="260"/>
        </pc:sldMkLst>
      </pc:sldChg>
      <pc:sldChg chg="modTransition modAnim">
        <pc:chgData name="sriyash ghodke" userId="f36bfe22e8b139ee" providerId="LiveId" clId="{3E037F2F-60DF-48CD-B01E-90A5698BD7A0}" dt="2026-02-20T04:12:48.499" v="221"/>
        <pc:sldMkLst>
          <pc:docMk/>
          <pc:sldMk cId="0" sldId="261"/>
        </pc:sldMkLst>
      </pc:sldChg>
      <pc:sldChg chg="modTransition modAnim">
        <pc:chgData name="sriyash ghodke" userId="f36bfe22e8b139ee" providerId="LiveId" clId="{3E037F2F-60DF-48CD-B01E-90A5698BD7A0}" dt="2026-02-20T04:12:46.117" v="220"/>
        <pc:sldMkLst>
          <pc:docMk/>
          <pc:sldMk cId="0" sldId="262"/>
        </pc:sldMkLst>
      </pc:sldChg>
      <pc:sldChg chg="modTransition modAnim">
        <pc:chgData name="sriyash ghodke" userId="f36bfe22e8b139ee" providerId="LiveId" clId="{3E037F2F-60DF-48CD-B01E-90A5698BD7A0}" dt="2026-02-20T04:13:50.888" v="230"/>
        <pc:sldMkLst>
          <pc:docMk/>
          <pc:sldMk cId="0" sldId="263"/>
        </pc:sldMkLst>
      </pc:sldChg>
      <pc:sldChg chg="modSp mod modTransition modAnim">
        <pc:chgData name="sriyash ghodke" userId="f36bfe22e8b139ee" providerId="LiveId" clId="{3E037F2F-60DF-48CD-B01E-90A5698BD7A0}" dt="2026-02-28T13:17:42.989" v="233" actId="1038"/>
        <pc:sldMkLst>
          <pc:docMk/>
          <pc:sldMk cId="0" sldId="264"/>
        </pc:sldMkLst>
        <pc:picChg chg="mod">
          <ac:chgData name="sriyash ghodke" userId="f36bfe22e8b139ee" providerId="LiveId" clId="{3E037F2F-60DF-48CD-B01E-90A5698BD7A0}" dt="2026-02-28T13:17:42.989" v="233" actId="1038"/>
          <ac:picMkLst>
            <pc:docMk/>
            <pc:sldMk cId="0" sldId="264"/>
            <ac:picMk id="2" creationId="{00000000-0000-0000-0000-000000000000}"/>
          </ac:picMkLst>
        </pc:picChg>
      </pc:sldChg>
      <pc:sldChg chg="modTransition modAnim">
        <pc:chgData name="sriyash ghodke" userId="f36bfe22e8b139ee" providerId="LiveId" clId="{3E037F2F-60DF-48CD-B01E-90A5698BD7A0}" dt="2026-02-20T04:12:38.004" v="217"/>
        <pc:sldMkLst>
          <pc:docMk/>
          <pc:sldMk cId="0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219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l="3438" t="5416" r="3594" b="513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3044205" y="2219325"/>
            <a:ext cx="16859250" cy="857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6750"/>
              </a:lnSpc>
              <a:buNone/>
            </a:pPr>
            <a:r>
              <a:rPr lang="en-US" sz="56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2048 Game Project</a:t>
            </a:r>
            <a:endParaRPr lang="en-US" sz="5625" dirty="0"/>
          </a:p>
        </p:txBody>
      </p:sp>
      <p:sp>
        <p:nvSpPr>
          <p:cNvPr id="4" name="Text 1"/>
          <p:cNvSpPr/>
          <p:nvPr/>
        </p:nvSpPr>
        <p:spPr>
          <a:xfrm>
            <a:off x="-2183130" y="3089612"/>
            <a:ext cx="14375130" cy="5973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704"/>
              </a:lnSpc>
              <a:buNone/>
            </a:pPr>
            <a:r>
              <a:rPr lang="en-US" sz="36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 + SDL2 Implementation</a:t>
            </a:r>
            <a:endParaRPr lang="en-US" sz="3675" dirty="0"/>
          </a:p>
        </p:txBody>
      </p:sp>
      <p:sp>
        <p:nvSpPr>
          <p:cNvPr id="5" name="Text 2"/>
          <p:cNvSpPr/>
          <p:nvPr/>
        </p:nvSpPr>
        <p:spPr>
          <a:xfrm>
            <a:off x="-161032" y="3733383"/>
            <a:ext cx="13144500" cy="2857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250"/>
              </a:lnSpc>
              <a:buNone/>
            </a:pPr>
            <a:r>
              <a:rPr lang="en-US" sz="187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Technical Documentation &amp; Implementation Guide</a:t>
            </a:r>
            <a:endParaRPr lang="en-US" sz="1875" dirty="0"/>
          </a:p>
        </p:txBody>
      </p:sp>
      <p:sp>
        <p:nvSpPr>
          <p:cNvPr id="6" name="Text 3"/>
          <p:cNvSpPr/>
          <p:nvPr/>
        </p:nvSpPr>
        <p:spPr>
          <a:xfrm>
            <a:off x="10435530" y="5305425"/>
            <a:ext cx="361950" cy="2153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6"/>
              </a:lnSpc>
              <a:buNone/>
            </a:pPr>
            <a:r>
              <a:rPr lang="en-US" sz="1425" dirty="0">
                <a:solidFill>
                  <a:srgbClr val="888888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2</a:t>
            </a:r>
            <a:endParaRPr lang="en-US" sz="1425" dirty="0"/>
          </a:p>
        </p:txBody>
      </p:sp>
      <p:sp>
        <p:nvSpPr>
          <p:cNvPr id="7" name="Text 4"/>
          <p:cNvSpPr/>
          <p:nvPr/>
        </p:nvSpPr>
        <p:spPr>
          <a:xfrm>
            <a:off x="10973246" y="5305425"/>
            <a:ext cx="342900" cy="2040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07"/>
              </a:lnSpc>
              <a:buNone/>
            </a:pPr>
            <a:r>
              <a:rPr lang="en-US" sz="1350" dirty="0">
                <a:solidFill>
                  <a:srgbClr val="888888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4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435530" y="5857875"/>
            <a:ext cx="361950" cy="21535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96"/>
              </a:lnSpc>
              <a:buNone/>
            </a:pPr>
            <a:r>
              <a:rPr lang="en-US" sz="1425" dirty="0">
                <a:solidFill>
                  <a:srgbClr val="888888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8</a:t>
            </a:r>
            <a:endParaRPr lang="en-US" sz="1425" dirty="0"/>
          </a:p>
        </p:txBody>
      </p:sp>
      <p:sp>
        <p:nvSpPr>
          <p:cNvPr id="9" name="Text 6"/>
          <p:cNvSpPr/>
          <p:nvPr/>
        </p:nvSpPr>
        <p:spPr>
          <a:xfrm>
            <a:off x="10802243" y="5857875"/>
            <a:ext cx="685800" cy="20404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07"/>
              </a:lnSpc>
              <a:buNone/>
            </a:pPr>
            <a:r>
              <a:rPr lang="en-US" sz="1350" dirty="0">
                <a:solidFill>
                  <a:srgbClr val="888888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16</a:t>
            </a:r>
            <a:endParaRPr lang="en-US" sz="13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AFE667B-5026-FC4A-41C8-57815FC87484}"/>
              </a:ext>
            </a:extLst>
          </p:cNvPr>
          <p:cNvSpPr txBox="1"/>
          <p:nvPr/>
        </p:nvSpPr>
        <p:spPr>
          <a:xfrm>
            <a:off x="1508454" y="4972734"/>
            <a:ext cx="84105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1.Sriyash Ghodke   2.Shiv Mudgal   3.Priyanka Gupta   </a:t>
            </a:r>
          </a:p>
          <a:p>
            <a:r>
              <a:rPr lang="en-US" sz="2400" dirty="0">
                <a:solidFill>
                  <a:schemeClr val="bg1"/>
                </a:solidFill>
                <a:latin typeface="Montserrat" panose="00000500000000000000" pitchFamily="2" charset="0"/>
              </a:rPr>
              <a:t>4.Rayyan Ansari   5.Shravya Bhatt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9493B0-B02D-3D46-8D56-782BF5A08EC7}"/>
              </a:ext>
            </a:extLst>
          </p:cNvPr>
          <p:cNvSpPr txBox="1"/>
          <p:nvPr/>
        </p:nvSpPr>
        <p:spPr>
          <a:xfrm>
            <a:off x="1508454" y="4203621"/>
            <a:ext cx="29051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bg1"/>
                </a:solidFill>
              </a:rPr>
              <a:t>Members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661160" y="647700"/>
            <a:ext cx="9326880" cy="5829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90"/>
              </a:lnSpc>
              <a:buNone/>
            </a:pPr>
            <a:r>
              <a:rPr lang="en-US" sz="3825" b="1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Project Overview</a:t>
            </a:r>
            <a:endParaRPr lang="en-US" sz="3825" dirty="0"/>
          </a:p>
        </p:txBody>
      </p:sp>
      <p:sp>
        <p:nvSpPr>
          <p:cNvPr id="4" name="Text 1"/>
          <p:cNvSpPr/>
          <p:nvPr/>
        </p:nvSpPr>
        <p:spPr>
          <a:xfrm>
            <a:off x="1104900" y="1866900"/>
            <a:ext cx="3886200" cy="4080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13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 Rules</a:t>
            </a:r>
            <a:endParaRPr lang="en-US" sz="2550" dirty="0"/>
          </a:p>
        </p:txBody>
      </p:sp>
      <p:sp>
        <p:nvSpPr>
          <p:cNvPr id="5" name="Text 2"/>
          <p:cNvSpPr/>
          <p:nvPr/>
        </p:nvSpPr>
        <p:spPr>
          <a:xfrm>
            <a:off x="6562725" y="1866900"/>
            <a:ext cx="6583680" cy="432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402"/>
              </a:lnSpc>
              <a:buNone/>
            </a:pPr>
            <a:r>
              <a:rPr lang="en-US" sz="27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Technology Stack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1685925" y="2628900"/>
            <a:ext cx="7406640" cy="349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5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Sliding tile puzzle game</a:t>
            </a:r>
            <a:endParaRPr lang="en-US" sz="2025" dirty="0"/>
          </a:p>
        </p:txBody>
      </p:sp>
      <p:sp>
        <p:nvSpPr>
          <p:cNvPr id="7" name="Text 4"/>
          <p:cNvSpPr/>
          <p:nvPr/>
        </p:nvSpPr>
        <p:spPr>
          <a:xfrm>
            <a:off x="1685925" y="3095625"/>
            <a:ext cx="8717280" cy="3367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5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4×4 grid with numbered tiles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685925" y="3562350"/>
            <a:ext cx="8915400" cy="3367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5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Merge identical adjacent tiles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685925" y="4048125"/>
            <a:ext cx="7612380" cy="349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5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Goal: Create 2048 tile</a:t>
            </a:r>
            <a:endParaRPr lang="en-US" sz="2025" dirty="0"/>
          </a:p>
        </p:txBody>
      </p:sp>
      <p:sp>
        <p:nvSpPr>
          <p:cNvPr id="10" name="Text 7"/>
          <p:cNvSpPr/>
          <p:nvPr/>
        </p:nvSpPr>
        <p:spPr>
          <a:xfrm>
            <a:off x="1685925" y="4514850"/>
            <a:ext cx="6172200" cy="349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5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Game over when stuck</a:t>
            </a:r>
            <a:endParaRPr lang="en-US" sz="2025" dirty="0"/>
          </a:p>
        </p:txBody>
      </p:sp>
      <p:sp>
        <p:nvSpPr>
          <p:cNvPr id="11" name="Text 8"/>
          <p:cNvSpPr/>
          <p:nvPr/>
        </p:nvSpPr>
        <p:spPr>
          <a:xfrm>
            <a:off x="7124700" y="2628900"/>
            <a:ext cx="7467600" cy="3626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56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Language: ANSI C (C99)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7124700" y="3095625"/>
            <a:ext cx="6995160" cy="349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5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Graphics: SDL2 library</a:t>
            </a:r>
            <a:endParaRPr lang="en-US" sz="2025" dirty="0"/>
          </a:p>
        </p:txBody>
      </p:sp>
      <p:sp>
        <p:nvSpPr>
          <p:cNvPr id="13" name="Text 10"/>
          <p:cNvSpPr/>
          <p:nvPr/>
        </p:nvSpPr>
        <p:spPr>
          <a:xfrm>
            <a:off x="7124700" y="3562350"/>
            <a:ext cx="7920990" cy="3497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5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Fonts: SDL2_ttf extension</a:t>
            </a:r>
            <a:endParaRPr lang="en-US" sz="2025" dirty="0"/>
          </a:p>
        </p:txBody>
      </p:sp>
      <p:sp>
        <p:nvSpPr>
          <p:cNvPr id="14" name="Text 11"/>
          <p:cNvSpPr/>
          <p:nvPr/>
        </p:nvSpPr>
        <p:spPr>
          <a:xfrm>
            <a:off x="7124700" y="4048125"/>
            <a:ext cx="7726680" cy="33679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52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Window: 900×800 pixels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7124700" y="4514850"/>
            <a:ext cx="3562350" cy="6994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54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Platform: Windows/Linux
compatible</a:t>
            </a:r>
            <a:endParaRPr lang="en-US" sz="2025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39654" y="676275"/>
            <a:ext cx="10641330" cy="63013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961"/>
              </a:lnSpc>
              <a:buNone/>
            </a:pPr>
            <a:r>
              <a:rPr lang="en-US" sz="3675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 Architecture</a:t>
            </a:r>
            <a:endParaRPr lang="en-US" sz="3675" dirty="0"/>
          </a:p>
        </p:txBody>
      </p:sp>
      <p:sp>
        <p:nvSpPr>
          <p:cNvPr id="4" name="Text 1"/>
          <p:cNvSpPr/>
          <p:nvPr/>
        </p:nvSpPr>
        <p:spPr>
          <a:xfrm>
            <a:off x="1493952" y="2114550"/>
            <a:ext cx="2125980" cy="4192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302"/>
              </a:lnSpc>
              <a:buNone/>
            </a:pPr>
            <a:r>
              <a:rPr lang="en-US" sz="2325" dirty="0">
                <a:solidFill>
                  <a:srgbClr val="ECEFF1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game.h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5108243" y="2114550"/>
            <a:ext cx="2125980" cy="41924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302"/>
              </a:lnSpc>
              <a:buNone/>
            </a:pPr>
            <a:r>
              <a:rPr lang="en-US" sz="2325" dirty="0">
                <a:solidFill>
                  <a:srgbClr val="ECEFF1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game.c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8660115" y="2114550"/>
            <a:ext cx="2194560" cy="4327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408"/>
              </a:lnSpc>
              <a:buNone/>
            </a:pPr>
            <a:r>
              <a:rPr lang="en-US" sz="2400" dirty="0">
                <a:solidFill>
                  <a:srgbClr val="ECEFF1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main.c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-4429631" y="5953125"/>
            <a:ext cx="21995130" cy="27384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56"/>
              </a:lnSpc>
              <a:buNone/>
            </a:pPr>
            <a:r>
              <a:rPr lang="en-US" sz="1725" dirty="0">
                <a:solidFill>
                  <a:srgbClr val="ECEFF1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Clean separation: game logic can be unit-tested or ported without SDL2 modification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1323975" y="2762250"/>
            <a:ext cx="2640211" cy="18538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2"/>
              </a:lnSpc>
              <a:buNone/>
            </a:pPr>
            <a:r>
              <a:rPr lang="en-US" sz="1725" dirty="0">
                <a:solidFill>
                  <a:srgbClr val="ECEFF1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• Public interface
header
• Function
declarations
• No implementation
code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4886325" y="2762250"/>
            <a:ext cx="2755553" cy="16118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8"/>
              </a:lnSpc>
              <a:buNone/>
            </a:pPr>
            <a:r>
              <a:rPr lang="en-US" sz="1800" dirty="0">
                <a:solidFill>
                  <a:srgbClr val="ECEFF1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• Core game logic
• SDL2-independent
operations
• Board manipulation
&amp; scoring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458200" y="2762250"/>
            <a:ext cx="2367855" cy="16118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8"/>
              </a:lnSpc>
              <a:buNone/>
            </a:pPr>
            <a:r>
              <a:rPr lang="en-US" sz="1800" dirty="0">
                <a:solidFill>
                  <a:srgbClr val="ECEFF1"/>
                </a:solidFill>
                <a:latin typeface="TimesNewRomanPS-ItalicMT" pitchFamily="34" charset="0"/>
                <a:ea typeface="TimesNewRomanPS-ItalicMT" pitchFamily="34" charset="-122"/>
                <a:cs typeface="TimesNewRomanPS-ItalicMT" pitchFamily="34" charset="-120"/>
              </a:rPr>
              <a:t>• SDL2 entry point
• Event loop &amp;
rendering
• UI presentation
layer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16385" y="419100"/>
            <a:ext cx="8743950" cy="57804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52"/>
              </a:lnSpc>
              <a:buNone/>
            </a:pPr>
            <a:r>
              <a:rPr lang="en-US" sz="3825" b="1" dirty="0">
                <a:solidFill>
                  <a:srgbClr val="F165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Structures</a:t>
            </a:r>
            <a:endParaRPr lang="en-US" sz="3825" dirty="0"/>
          </a:p>
        </p:txBody>
      </p:sp>
      <p:sp>
        <p:nvSpPr>
          <p:cNvPr id="4" name="Text 1"/>
          <p:cNvSpPr/>
          <p:nvPr/>
        </p:nvSpPr>
        <p:spPr>
          <a:xfrm>
            <a:off x="1076325" y="1219200"/>
            <a:ext cx="5314950" cy="35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Game Board</a:t>
            </a:r>
            <a:endParaRPr lang="en-US" sz="2325" dirty="0"/>
          </a:p>
        </p:txBody>
      </p:sp>
      <p:sp>
        <p:nvSpPr>
          <p:cNvPr id="5" name="Text 2"/>
          <p:cNvSpPr/>
          <p:nvPr/>
        </p:nvSpPr>
        <p:spPr>
          <a:xfrm>
            <a:off x="1076325" y="3105150"/>
            <a:ext cx="8503920" cy="35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Auxiliary Arrays (Local)</a:t>
            </a:r>
            <a:endParaRPr lang="en-US" sz="2325" dirty="0"/>
          </a:p>
        </p:txBody>
      </p:sp>
      <p:sp>
        <p:nvSpPr>
          <p:cNvPr id="6" name="Text 3"/>
          <p:cNvSpPr/>
          <p:nvPr/>
        </p:nvSpPr>
        <p:spPr>
          <a:xfrm>
            <a:off x="1076325" y="4914900"/>
            <a:ext cx="6614160" cy="35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SDL2 Library Types</a:t>
            </a:r>
            <a:endParaRPr lang="en-US" sz="2325" dirty="0"/>
          </a:p>
        </p:txBody>
      </p:sp>
      <p:sp>
        <p:nvSpPr>
          <p:cNvPr id="7" name="Text 4"/>
          <p:cNvSpPr/>
          <p:nvPr/>
        </p:nvSpPr>
        <p:spPr>
          <a:xfrm>
            <a:off x="1323975" y="1733550"/>
            <a:ext cx="4882455" cy="78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7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int board[4][4] - main array
• Stack-allocated, cache-friendly design
• board[row][col] indexing system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6448425" y="1733550"/>
            <a:ext cx="4128046" cy="7545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int board[4][4] - main sioduation
• barv[row][co] indexing system
• 0 = empty, powers of 2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323975" y="3619500"/>
            <a:ext cx="4987230" cy="78849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7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original[4] - change detection snapshot
• temp[4] - compaction working area
• final[4] - post-merge result</a:t>
            </a:r>
            <a:endParaRPr lang="en-US" sz="1725" dirty="0"/>
          </a:p>
        </p:txBody>
      </p:sp>
      <p:sp>
        <p:nvSpPr>
          <p:cNvPr id="10" name="Text 7"/>
          <p:cNvSpPr/>
          <p:nvPr/>
        </p:nvSpPr>
        <p:spPr>
          <a:xfrm>
            <a:off x="6448425" y="3619500"/>
            <a:ext cx="4976813" cy="5256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7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empt[4] - post-merge result
• empty_tiles[16][2] - coordinate storage</a:t>
            </a:r>
            <a:endParaRPr lang="en-US" sz="1725" dirty="0"/>
          </a:p>
        </p:txBody>
      </p:sp>
      <p:sp>
        <p:nvSpPr>
          <p:cNvPr id="11" name="Text 8"/>
          <p:cNvSpPr/>
          <p:nvPr/>
        </p:nvSpPr>
        <p:spPr>
          <a:xfrm>
            <a:off x="1323975" y="5429250"/>
            <a:ext cx="5133975" cy="5256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70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SDL_Window* - 900x800 window
• SDL_Renderer* - hardware acceleration</a:t>
            </a:r>
            <a:endParaRPr lang="en-US" sz="1725" dirty="0"/>
          </a:p>
        </p:txBody>
      </p:sp>
      <p:sp>
        <p:nvSpPr>
          <p:cNvPr id="12" name="Text 9"/>
          <p:cNvSpPr/>
          <p:nvPr/>
        </p:nvSpPr>
        <p:spPr>
          <a:xfrm>
            <a:off x="6448425" y="5429250"/>
            <a:ext cx="4484340" cy="54858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6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SDL_Rect - positioning rectangles
• TTF_Font* - TrueType font handle</a:t>
            </a:r>
            <a:endParaRPr lang="en-US" sz="18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563588" y="704850"/>
            <a:ext cx="160020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800"/>
              </a:lnSpc>
              <a:buNone/>
            </a:pPr>
            <a:r>
              <a:rPr lang="en-US" sz="3750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Core Algorithm: Tile Sliding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1076325" y="1581150"/>
            <a:ext cx="10275570" cy="3536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84"/>
              </a:lnSpc>
              <a:buNone/>
            </a:pPr>
            <a:r>
              <a:rPr lang="en-US" sz="2175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Three-Phase Movement Algorithm:</a:t>
            </a:r>
            <a:endParaRPr lang="en-US" sz="2175" dirty="0"/>
          </a:p>
        </p:txBody>
      </p:sp>
      <p:sp>
        <p:nvSpPr>
          <p:cNvPr id="5" name="Text 2"/>
          <p:cNvSpPr/>
          <p:nvPr/>
        </p:nvSpPr>
        <p:spPr>
          <a:xfrm>
            <a:off x="1076325" y="3314700"/>
            <a:ext cx="6960870" cy="35361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84"/>
              </a:lnSpc>
              <a:buNone/>
            </a:pPr>
            <a:r>
              <a:rPr lang="en-US" sz="2175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Step-by-Step Example: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1200150" y="1933575"/>
            <a:ext cx="7040761" cy="10800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835"/>
              </a:lnSpc>
              <a:buNone/>
            </a:pPr>
            <a:r>
              <a:rPr lang="en-US" sz="210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Phase 1: Compact (remove zeros)
• Phase 2: Merge (combine equals)
• Phase 3: Re-compact (remove merge gaps)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076325" y="3914775"/>
            <a:ext cx="6153150" cy="13620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24"/>
              </a:lnSpc>
              <a:buNone/>
            </a:pPr>
            <a:r>
              <a:rPr lang="en-US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Initial: [0, 2, 2, 4]
Phase 1 (compact): [2, 2, 4, 0] // zero removed
Phase 2 (merge): [4, 0, 4, 0] // 2+2=4, temp[1] zeroed
Phase 3 (final): [4, 4, 0, 0] // zero from merge removed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086" y="1392138"/>
            <a:ext cx="10192494" cy="4773067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02000" y="523875"/>
            <a:ext cx="10698480" cy="63891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031"/>
              </a:lnSpc>
              <a:buNone/>
            </a:pPr>
            <a:r>
              <a:rPr lang="en-US" sz="3900" b="1" dirty="0">
                <a:solidFill>
                  <a:srgbClr val="FF8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Function Reference</a:t>
            </a:r>
            <a:endParaRPr lang="en-US" sz="39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6392" y="2503140"/>
            <a:ext cx="5108377" cy="351814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882" y="2386459"/>
            <a:ext cx="4486573" cy="3778746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764938" y="466725"/>
            <a:ext cx="9132570" cy="58191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83"/>
              </a:lnSpc>
              <a:buNone/>
            </a:pPr>
            <a:r>
              <a:rPr lang="en-US" sz="3525" b="1" dirty="0">
                <a:solidFill>
                  <a:srgbClr val="F57C00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Game Loop &amp; Input</a:t>
            </a:r>
            <a:endParaRPr lang="en-US" sz="3525" dirty="0"/>
          </a:p>
        </p:txBody>
      </p:sp>
      <p:sp>
        <p:nvSpPr>
          <p:cNvPr id="6" name="Text 1"/>
          <p:cNvSpPr/>
          <p:nvPr/>
        </p:nvSpPr>
        <p:spPr>
          <a:xfrm>
            <a:off x="1876425" y="1609725"/>
            <a:ext cx="5314950" cy="425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Main Event Loop</a:t>
            </a:r>
            <a:endParaRPr lang="en-US" sz="2325" dirty="0"/>
          </a:p>
        </p:txBody>
      </p:sp>
      <p:sp>
        <p:nvSpPr>
          <p:cNvPr id="7" name="Text 2"/>
          <p:cNvSpPr/>
          <p:nvPr/>
        </p:nvSpPr>
        <p:spPr>
          <a:xfrm>
            <a:off x="7296150" y="1609725"/>
            <a:ext cx="5669280" cy="425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348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WASD Key Mapping</a:t>
            </a:r>
            <a:endParaRPr lang="en-US" sz="2325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5859" y="4930825"/>
            <a:ext cx="1755577" cy="148128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393463" y="657225"/>
            <a:ext cx="9875520" cy="58980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644"/>
              </a:lnSpc>
              <a:buNone/>
            </a:pPr>
            <a:r>
              <a:rPr lang="en-US" sz="3600" b="1" dirty="0">
                <a:solidFill>
                  <a:srgbClr val="F96E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Rendering Pipeline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1200150" y="1790700"/>
            <a:ext cx="6057900" cy="39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2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SDL2 Render Steps</a:t>
            </a:r>
            <a:endParaRPr lang="en-US" sz="2250" dirty="0"/>
          </a:p>
        </p:txBody>
      </p:sp>
      <p:sp>
        <p:nvSpPr>
          <p:cNvPr id="6" name="Text 2"/>
          <p:cNvSpPr/>
          <p:nvPr/>
        </p:nvSpPr>
        <p:spPr>
          <a:xfrm>
            <a:off x="6991350" y="1790700"/>
            <a:ext cx="5486400" cy="39722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128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Grid Layout Math</a:t>
            </a:r>
            <a:endParaRPr lang="en-US" sz="2250" dirty="0"/>
          </a:p>
        </p:txBody>
      </p:sp>
      <p:sp>
        <p:nvSpPr>
          <p:cNvPr id="7" name="Text 3"/>
          <p:cNvSpPr/>
          <p:nvPr/>
        </p:nvSpPr>
        <p:spPr>
          <a:xfrm>
            <a:off x="1200150" y="2419350"/>
            <a:ext cx="4222403" cy="229939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17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Clear screen (dark grey)
• Render score at top
• Draw 16 tile rectangles
• Render tile number text
• Present frame to display
• Game over overlay (alpha)</a:t>
            </a:r>
            <a:endParaRPr lang="en-US" sz="2025" dirty="0"/>
          </a:p>
        </p:txBody>
      </p:sp>
      <p:sp>
        <p:nvSpPr>
          <p:cNvPr id="8" name="Text 4"/>
          <p:cNvSpPr/>
          <p:nvPr/>
        </p:nvSpPr>
        <p:spPr>
          <a:xfrm>
            <a:off x="6991350" y="2419350"/>
            <a:ext cx="4065240" cy="246905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241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• Window: 900×800 pixels
• Grid: 600px centered
• Left offset: 150px margin
• Tiles: 137px squares
• Gaps: 10px spacing
• Grid top: 120px down</a:t>
            </a:r>
            <a:endParaRPr lang="en-US" sz="2175" dirty="0"/>
          </a:p>
        </p:txBody>
      </p:sp>
      <p:sp>
        <p:nvSpPr>
          <p:cNvPr id="9" name="Text 5"/>
          <p:cNvSpPr/>
          <p:nvPr/>
        </p:nvSpPr>
        <p:spPr>
          <a:xfrm>
            <a:off x="3868995" y="6467475"/>
            <a:ext cx="4693920" cy="1320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04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2×2 Grid Tile Layout Concept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5765" y="1563588"/>
            <a:ext cx="560784" cy="55542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6455" y="1597819"/>
            <a:ext cx="524173" cy="50050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-3208050" y="600075"/>
            <a:ext cx="19613880" cy="5028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3960"/>
              </a:lnSpc>
              <a:buNone/>
            </a:pPr>
            <a:r>
              <a:rPr lang="en-US" sz="3300" b="1" dirty="0">
                <a:solidFill>
                  <a:srgbClr val="F56D0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Known Limitations &amp; Future Improvements</a:t>
            </a:r>
            <a:endParaRPr lang="en-US" sz="3300" dirty="0"/>
          </a:p>
        </p:txBody>
      </p:sp>
      <p:sp>
        <p:nvSpPr>
          <p:cNvPr id="6" name="Text 1"/>
          <p:cNvSpPr/>
          <p:nvPr/>
        </p:nvSpPr>
        <p:spPr>
          <a:xfrm>
            <a:off x="1628775" y="1628775"/>
            <a:ext cx="6515100" cy="38859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6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 Limitations</a:t>
            </a:r>
            <a:endParaRPr lang="en-US" sz="2250" dirty="0"/>
          </a:p>
        </p:txBody>
      </p:sp>
      <p:sp>
        <p:nvSpPr>
          <p:cNvPr id="7" name="Text 2"/>
          <p:cNvSpPr/>
          <p:nvPr/>
        </p:nvSpPr>
        <p:spPr>
          <a:xfrm>
            <a:off x="7296150" y="1628775"/>
            <a:ext cx="6960870" cy="37564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958"/>
              </a:lnSpc>
              <a:buNone/>
            </a:pPr>
            <a:r>
              <a:rPr lang="en-US" sz="2175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Proposed Improvements</a:t>
            </a:r>
            <a:endParaRPr lang="en-US" sz="2175" dirty="0"/>
          </a:p>
        </p:txBody>
      </p:sp>
      <p:sp>
        <p:nvSpPr>
          <p:cNvPr id="8" name="Text 3"/>
          <p:cNvSpPr/>
          <p:nvPr/>
        </p:nvSpPr>
        <p:spPr>
          <a:xfrm>
            <a:off x="1628775" y="2362200"/>
            <a:ext cx="617220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sums all tiles</a:t>
            </a:r>
            <a:endParaRPr lang="en-US" sz="2025" dirty="0"/>
          </a:p>
        </p:txBody>
      </p:sp>
      <p:sp>
        <p:nvSpPr>
          <p:cNvPr id="9" name="Text 4"/>
          <p:cNvSpPr/>
          <p:nvPr/>
        </p:nvSpPr>
        <p:spPr>
          <a:xfrm>
            <a:off x="1628775" y="3000375"/>
            <a:ext cx="771525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high score persistence</a:t>
            </a:r>
            <a:endParaRPr lang="en-US" sz="2025" dirty="0"/>
          </a:p>
        </p:txBody>
      </p:sp>
      <p:sp>
        <p:nvSpPr>
          <p:cNvPr id="10" name="Text 5"/>
          <p:cNvSpPr/>
          <p:nvPr/>
        </p:nvSpPr>
        <p:spPr>
          <a:xfrm>
            <a:off x="1628775" y="3638550"/>
            <a:ext cx="894969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restart mechanic available</a:t>
            </a:r>
            <a:endParaRPr lang="en-US" sz="2025" dirty="0"/>
          </a:p>
        </p:txBody>
      </p:sp>
      <p:sp>
        <p:nvSpPr>
          <p:cNvPr id="11" name="Text 6"/>
          <p:cNvSpPr/>
          <p:nvPr/>
        </p:nvSpPr>
        <p:spPr>
          <a:xfrm>
            <a:off x="1628775" y="4267200"/>
            <a:ext cx="833247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Hardcoded Windows font path</a:t>
            </a:r>
            <a:endParaRPr lang="en-US" sz="2025" dirty="0"/>
          </a:p>
        </p:txBody>
      </p:sp>
      <p:sp>
        <p:nvSpPr>
          <p:cNvPr id="12" name="Text 7"/>
          <p:cNvSpPr/>
          <p:nvPr/>
        </p:nvSpPr>
        <p:spPr>
          <a:xfrm>
            <a:off x="1628775" y="4905375"/>
            <a:ext cx="6537960" cy="312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frame rate limiting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1628775" y="5543550"/>
            <a:ext cx="648081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Single merge per scan</a:t>
            </a:r>
            <a:endParaRPr lang="en-US" sz="2025" dirty="0"/>
          </a:p>
        </p:txBody>
      </p:sp>
      <p:sp>
        <p:nvSpPr>
          <p:cNvPr id="14" name="Text 9"/>
          <p:cNvSpPr/>
          <p:nvPr/>
        </p:nvSpPr>
        <p:spPr>
          <a:xfrm>
            <a:off x="7296150" y="2362200"/>
            <a:ext cx="925830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Persistent score with file I/O</a:t>
            </a:r>
            <a:endParaRPr lang="en-US" sz="2025" dirty="0"/>
          </a:p>
        </p:txBody>
      </p:sp>
      <p:sp>
        <p:nvSpPr>
          <p:cNvPr id="15" name="Text 10"/>
          <p:cNvSpPr/>
          <p:nvPr/>
        </p:nvSpPr>
        <p:spPr>
          <a:xfrm>
            <a:off x="7296150" y="3000375"/>
            <a:ext cx="4937760" cy="3239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52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Restart on R key</a:t>
            </a:r>
            <a:endParaRPr lang="en-US" sz="2025" dirty="0"/>
          </a:p>
        </p:txBody>
      </p:sp>
      <p:sp>
        <p:nvSpPr>
          <p:cNvPr id="16" name="Text 11"/>
          <p:cNvSpPr/>
          <p:nvPr/>
        </p:nvSpPr>
        <p:spPr>
          <a:xfrm>
            <a:off x="7296150" y="3638550"/>
            <a:ext cx="3300413" cy="52000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048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Smooth tile animations
(SDL_GetTicks)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7296150" y="4533900"/>
            <a:ext cx="7726680" cy="312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Correct merge-time scoring</a:t>
            </a:r>
            <a:endParaRPr lang="en-US" sz="1950" dirty="0"/>
          </a:p>
        </p:txBody>
      </p:sp>
      <p:sp>
        <p:nvSpPr>
          <p:cNvPr id="18" name="Text 13"/>
          <p:cNvSpPr/>
          <p:nvPr/>
        </p:nvSpPr>
        <p:spPr>
          <a:xfrm>
            <a:off x="7296150" y="5162550"/>
            <a:ext cx="6934200" cy="312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60 FPS cap (SDL_Delay)</a:t>
            </a:r>
            <a:endParaRPr lang="en-US" sz="1950" dirty="0"/>
          </a:p>
        </p:txBody>
      </p:sp>
      <p:sp>
        <p:nvSpPr>
          <p:cNvPr id="19" name="Text 14"/>
          <p:cNvSpPr/>
          <p:nvPr/>
        </p:nvSpPr>
        <p:spPr>
          <a:xfrm>
            <a:off x="7296150" y="5800725"/>
            <a:ext cx="7330440" cy="31209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57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Win detection for 2048</a:t>
            </a:r>
            <a:endParaRPr lang="en-US" sz="19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9686" y="2921496"/>
            <a:ext cx="2401788" cy="251683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226835" y="466725"/>
            <a:ext cx="15339060" cy="6972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490"/>
              </a:lnSpc>
              <a:buNone/>
            </a:pPr>
            <a:r>
              <a:rPr lang="en-US" sz="4575" b="1" dirty="0">
                <a:solidFill>
                  <a:srgbClr val="F57C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Thank You / Demo Slide</a:t>
            </a:r>
            <a:endParaRPr lang="en-US" sz="4575" dirty="0"/>
          </a:p>
        </p:txBody>
      </p:sp>
      <p:sp>
        <p:nvSpPr>
          <p:cNvPr id="5" name="Text 1"/>
          <p:cNvSpPr/>
          <p:nvPr/>
        </p:nvSpPr>
        <p:spPr>
          <a:xfrm>
            <a:off x="723900" y="1714500"/>
            <a:ext cx="5314950" cy="3543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790"/>
              </a:lnSpc>
              <a:buNone/>
            </a:pPr>
            <a:r>
              <a:rPr lang="en-US" sz="2325" b="1" dirty="0">
                <a:solidFill>
                  <a:srgbClr val="FFFFFF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Project Summary</a:t>
            </a:r>
            <a:endParaRPr lang="en-US" sz="2325" dirty="0"/>
          </a:p>
        </p:txBody>
      </p:sp>
      <p:sp>
        <p:nvSpPr>
          <p:cNvPr id="6" name="Text 2"/>
          <p:cNvSpPr/>
          <p:nvPr/>
        </p:nvSpPr>
        <p:spPr>
          <a:xfrm>
            <a:off x="7358985" y="1714500"/>
            <a:ext cx="3394710" cy="3771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475" b="1" dirty="0">
                <a:solidFill>
                  <a:srgbClr val="FFFFFF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Live Demo</a:t>
            </a:r>
            <a:endParaRPr lang="en-US" sz="2475" dirty="0"/>
          </a:p>
        </p:txBody>
      </p:sp>
      <p:sp>
        <p:nvSpPr>
          <p:cNvPr id="7" name="Text 3"/>
          <p:cNvSpPr/>
          <p:nvPr/>
        </p:nvSpPr>
        <p:spPr>
          <a:xfrm>
            <a:off x="2147381" y="6019800"/>
            <a:ext cx="8298180" cy="3771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970"/>
              </a:lnSpc>
              <a:buNone/>
            </a:pPr>
            <a:r>
              <a:rPr lang="en-US" sz="2475" dirty="0">
                <a:solidFill>
                  <a:srgbClr val="FFFFFF"/>
                </a:solidFill>
                <a:latin typeface="Montserrat Extra" pitchFamily="34" charset="0"/>
                <a:ea typeface="Montserrat Extra" pitchFamily="34" charset="-122"/>
                <a:cs typeface="Montserrat Extra" pitchFamily="34" charset="-120"/>
              </a:rPr>
              <a:t>Questions &amp; Discussion</a:t>
            </a:r>
            <a:endParaRPr lang="en-US" sz="2475" dirty="0"/>
          </a:p>
        </p:txBody>
      </p:sp>
      <p:sp>
        <p:nvSpPr>
          <p:cNvPr id="8" name="Text 4"/>
          <p:cNvSpPr/>
          <p:nvPr/>
        </p:nvSpPr>
        <p:spPr>
          <a:xfrm>
            <a:off x="895350" y="2457450"/>
            <a:ext cx="11624310" cy="3342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3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Complete 2048 implementation in C</a:t>
            </a:r>
            <a:endParaRPr lang="en-US" sz="2025" dirty="0"/>
          </a:p>
        </p:txBody>
      </p:sp>
      <p:sp>
        <p:nvSpPr>
          <p:cNvPr id="9" name="Text 5"/>
          <p:cNvSpPr/>
          <p:nvPr/>
        </p:nvSpPr>
        <p:spPr>
          <a:xfrm>
            <a:off x="895350" y="2971800"/>
            <a:ext cx="11315700" cy="3342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3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SDL2 hardware-accelerated graphics</a:t>
            </a:r>
            <a:endParaRPr lang="en-US" sz="2025" dirty="0"/>
          </a:p>
        </p:txBody>
      </p:sp>
      <p:sp>
        <p:nvSpPr>
          <p:cNvPr id="10" name="Text 6"/>
          <p:cNvSpPr/>
          <p:nvPr/>
        </p:nvSpPr>
        <p:spPr>
          <a:xfrm>
            <a:off x="895350" y="3486150"/>
            <a:ext cx="9875520" cy="3342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633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Robust game logic &amp; algorithms</a:t>
            </a:r>
            <a:endParaRPr lang="en-US" sz="2025" dirty="0"/>
          </a:p>
        </p:txBody>
      </p:sp>
      <p:sp>
        <p:nvSpPr>
          <p:cNvPr id="11" name="Text 7"/>
          <p:cNvSpPr/>
          <p:nvPr/>
        </p:nvSpPr>
        <p:spPr>
          <a:xfrm>
            <a:off x="895350" y="4000500"/>
            <a:ext cx="8915400" cy="32191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535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Cross-platform compatibility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895350" y="4514850"/>
            <a:ext cx="3981450" cy="7715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038"/>
              </a:lnSpc>
              <a:buNone/>
            </a:pPr>
            <a:r>
              <a:rPr lang="en-US" sz="20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• Comprehensive technical
documentation</a:t>
            </a:r>
            <a:endParaRPr lang="en-US" sz="2025" dirty="0"/>
          </a:p>
        </p:txBody>
      </p:sp>
      <p:sp>
        <p:nvSpPr>
          <p:cNvPr id="13" name="Text 9"/>
          <p:cNvSpPr/>
          <p:nvPr/>
        </p:nvSpPr>
        <p:spPr>
          <a:xfrm>
            <a:off x="7757115" y="2552700"/>
            <a:ext cx="2606040" cy="1954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539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OpenSans-Regular" pitchFamily="34" charset="0"/>
                <a:ea typeface="OpenSans-Regular" pitchFamily="34" charset="-122"/>
                <a:cs typeface="OpenSans-Regular" pitchFamily="34" charset="-120"/>
              </a:rPr>
              <a:t>Score: 246</a:t>
            </a:r>
            <a:endParaRPr lang="en-US" sz="1425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587</TotalTime>
  <Words>651</Words>
  <Application>Microsoft Office PowerPoint</Application>
  <PresentationFormat>Widescreen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Montserrat</vt:lpstr>
      <vt:lpstr>Montserrat Extra</vt:lpstr>
      <vt:lpstr>OpenSans-Regular</vt:lpstr>
      <vt:lpstr>Poppins</vt:lpstr>
      <vt:lpstr>Roboto Condensed</vt:lpstr>
      <vt:lpstr>Roboto-Regular</vt:lpstr>
      <vt:lpstr>TimesNewRomanPS-ItalicMT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sriyash ghodke</cp:lastModifiedBy>
  <cp:revision>2</cp:revision>
  <dcterms:created xsi:type="dcterms:W3CDTF">2026-02-19T18:18:25Z</dcterms:created>
  <dcterms:modified xsi:type="dcterms:W3CDTF">2026-02-28T13:17:47Z</dcterms:modified>
</cp:coreProperties>
</file>